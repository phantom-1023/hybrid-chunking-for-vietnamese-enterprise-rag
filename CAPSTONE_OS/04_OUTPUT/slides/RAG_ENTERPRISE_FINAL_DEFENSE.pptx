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ba30ee98a541ff" /><Relationship Type="http://schemas.openxmlformats.org/officeDocument/2006/relationships/extended-properties" Target="/docProps/app.xml" Id="R55bdda795b914560" /><Relationship Type="http://schemas.openxmlformats.org/officeDocument/2006/relationships/officeDocument" Target="/ppt/presentation.xml" Id="Rc9525261295c44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7b6a02836f497c"/>
  </p:sldMasterIdLst>
  <p:notesMasterIdLst>
    <p:notesMasterId xmlns:r="http://schemas.openxmlformats.org/officeDocument/2006/relationships" r:id="Re6177b04e3af4f09"/>
  </p:notesMasterIdLst>
  <p:sldIdLst>
    <p:sldId xmlns:r="http://schemas.openxmlformats.org/officeDocument/2006/relationships" id="256" r:id="Rd630f033de544a91"/>
    <p:sldId xmlns:r="http://schemas.openxmlformats.org/officeDocument/2006/relationships" id="257" r:id="R4036858e199241f5"/>
    <p:sldId xmlns:r="http://schemas.openxmlformats.org/officeDocument/2006/relationships" id="258" r:id="R5aa0edca08184791"/>
    <p:sldId xmlns:r="http://schemas.openxmlformats.org/officeDocument/2006/relationships" id="259" r:id="R77294cafc41b4a85"/>
    <p:sldId xmlns:r="http://schemas.openxmlformats.org/officeDocument/2006/relationships" id="260" r:id="Rf7df869c41064d6b"/>
    <p:sldId xmlns:r="http://schemas.openxmlformats.org/officeDocument/2006/relationships" id="261" r:id="R5fb44a8690d347ae"/>
    <p:sldId xmlns:r="http://schemas.openxmlformats.org/officeDocument/2006/relationships" id="262" r:id="R6f220ff0413542f3"/>
    <p:sldId xmlns:r="http://schemas.openxmlformats.org/officeDocument/2006/relationships" id="263" r:id="R50e711279a184232"/>
    <p:sldId xmlns:r="http://schemas.openxmlformats.org/officeDocument/2006/relationships" id="264" r:id="Rf82e79f476fc4cd5"/>
    <p:sldId xmlns:r="http://schemas.openxmlformats.org/officeDocument/2006/relationships" id="265" r:id="R6a4ce7f8ca4c4133"/>
    <p:sldId xmlns:r="http://schemas.openxmlformats.org/officeDocument/2006/relationships" id="266" r:id="Ra293279363334a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caa3286b234d3b" /><Relationship Type="http://schemas.openxmlformats.org/officeDocument/2006/relationships/slideMaster" Target="/ppt/slideMasters/slideMaster1.xml" Id="Rad7b6a02836f497c" /><Relationship Type="http://schemas.openxmlformats.org/officeDocument/2006/relationships/notesMaster" Target="/ppt/notesMasters/notesMaster1.xml" Id="Re6177b04e3af4f09" /><Relationship Type="http://schemas.openxmlformats.org/officeDocument/2006/relationships/presProps" Target="/ppt/presProps.xml" Id="Rdc9e065ec1354dab" /><Relationship Type="http://schemas.openxmlformats.org/officeDocument/2006/relationships/tableStyles" Target="/ppt/tableStyles.xml" Id="R332aac88d7804983" /><Relationship Type="http://schemas.openxmlformats.org/officeDocument/2006/relationships/slide" Target="/ppt/slides/slide1.xml" Id="Rd630f033de544a91" /><Relationship Type="http://schemas.openxmlformats.org/officeDocument/2006/relationships/slide" Target="/ppt/slides/slide2.xml" Id="R4036858e199241f5" /><Relationship Type="http://schemas.openxmlformats.org/officeDocument/2006/relationships/slide" Target="/ppt/slides/slide3.xml" Id="R5aa0edca08184791" /><Relationship Type="http://schemas.openxmlformats.org/officeDocument/2006/relationships/slide" Target="/ppt/slides/slide4.xml" Id="R77294cafc41b4a85" /><Relationship Type="http://schemas.openxmlformats.org/officeDocument/2006/relationships/slide" Target="/ppt/slides/slide5.xml" Id="Rf7df869c41064d6b" /><Relationship Type="http://schemas.openxmlformats.org/officeDocument/2006/relationships/slide" Target="/ppt/slides/slide6.xml" Id="R5fb44a8690d347ae" /><Relationship Type="http://schemas.openxmlformats.org/officeDocument/2006/relationships/slide" Target="/ppt/slides/slide7.xml" Id="R6f220ff0413542f3" /><Relationship Type="http://schemas.openxmlformats.org/officeDocument/2006/relationships/slide" Target="/ppt/slides/slide8.xml" Id="R50e711279a184232" /><Relationship Type="http://schemas.openxmlformats.org/officeDocument/2006/relationships/slide" Target="/ppt/slides/slide9.xml" Id="Rf82e79f476fc4cd5" /><Relationship Type="http://schemas.openxmlformats.org/officeDocument/2006/relationships/slide" Target="/ppt/slides/slide10.xml" Id="R6a4ce7f8ca4c4133" /><Relationship Type="http://schemas.openxmlformats.org/officeDocument/2006/relationships/slide" Target="/ppt/slides/slide11.xml" Id="Ra293279363334a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296288214a48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c0e65e0ead4693" /><Relationship Type="http://schemas.openxmlformats.org/officeDocument/2006/relationships/notesMaster" Target="/ppt/notesMasters/notesMaster1.xml" Id="R52798301b2a34a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0897f2f6bb40ab" /><Relationship Type="http://schemas.openxmlformats.org/officeDocument/2006/relationships/notesMaster" Target="/ppt/notesMasters/notesMaster1.xml" Id="R3cbedff930354e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b5941268df49d3" /><Relationship Type="http://schemas.openxmlformats.org/officeDocument/2006/relationships/notesMaster" Target="/ppt/notesMasters/notesMaster1.xml" Id="Rbfb8227e6a0c48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8a4e5558ea47f9" /><Relationship Type="http://schemas.openxmlformats.org/officeDocument/2006/relationships/notesMaster" Target="/ppt/notesMasters/notesMaster1.xml" Id="Rac0445c44df349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d91ea567374854" /><Relationship Type="http://schemas.openxmlformats.org/officeDocument/2006/relationships/notesMaster" Target="/ppt/notesMasters/notesMaster1.xml" Id="Rf94d02a73f2542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a90d2b1f634091" /><Relationship Type="http://schemas.openxmlformats.org/officeDocument/2006/relationships/notesMaster" Target="/ppt/notesMasters/notesMaster1.xml" Id="R5ccef2fa877346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5afa78686b4db1" /><Relationship Type="http://schemas.openxmlformats.org/officeDocument/2006/relationships/notesMaster" Target="/ppt/notesMasters/notesMaster1.xml" Id="R3bdd6e8d894d46e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c4a61ba3e34d23" /><Relationship Type="http://schemas.openxmlformats.org/officeDocument/2006/relationships/notesMaster" Target="/ppt/notesMasters/notesMaster1.xml" Id="R701bf47ae6324c1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73d68b7db7d4a0a" /><Relationship Type="http://schemas.openxmlformats.org/officeDocument/2006/relationships/notesMaster" Target="/ppt/notesMasters/notesMaster1.xml" Id="R37d1fa19827d418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09a45140e244779" /><Relationship Type="http://schemas.openxmlformats.org/officeDocument/2006/relationships/notesMaster" Target="/ppt/notesMasters/notesMaster1.xml" Id="R3988747d9691415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b4777b3ab124ef1" /><Relationship Type="http://schemas.openxmlformats.org/officeDocument/2006/relationships/notesMaster" Target="/ppt/notesMasters/notesMaster1.xml" Id="R7e0ec304dc204a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Mở đầu bằng một câu: đóng góp chính là reranker đã fine-tune được đưa vào đúng luồng truy vấn, còn web/ACL biến đóng góp đó thành MVP doanh nghiệp có thể demo.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CAPSTONE_OS/04_OUTPUT/final/FINAL_EVIDENCE_INDEX.md</a:t>
            </a:r>
          </a:p>
          <a:p xmlns:a="http://schemas.openxmlformats.org/drawingml/2006/main">
            <a:r>
              <a:t>- artifacts/benchmark/reranker_comparison.json</a:t>
            </a:r>
          </a:p>
          <a:p xmlns:a="http://schemas.openxmlformats.org/drawingml/2006/main">
            <a:r>
              <a:t>- artifacts/web/web_smoke.json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Nhấn mạnh hệ thống được đánh giá ở cả chất lượng retrieval và an toàn truy cập. Đây là lý do ACL phải đứng trước retrieval, không chỉ ẩn kết quả ở giao diện.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CAPSTONE_OS/02_KNOWLEDGE/architecture/ARCHITECTURE.md</a:t>
            </a:r>
          </a:p>
          <a:p xmlns:a="http://schemas.openxmlformats.org/drawingml/2006/main">
            <a:r>
              <a:t>- CAPSTONE_OS/04_OUTPUT/final/FINAL_EVIDENCE_INDEX.md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Phân biệt rõ bi-encoder retrieval và cross-encoder reranking. Phần được fine-tune là cross-encoder, không phải BM25; BM25 không phải neural model để fine-tune theo nghĩa này.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src/retriever.py</a:t>
            </a:r>
          </a:p>
          <a:p xmlns:a="http://schemas.openxmlformats.org/drawingml/2006/main">
            <a:r>
              <a:t>- scripts/train_reranker.py</a:t>
            </a:r>
          </a:p>
          <a:p xmlns:a="http://schemas.openxmlformats.org/drawingml/2006/main">
            <a:r>
              <a:t>- artifacts/reranker/full_result.json</a:t>
            </a:r>
          </a:p>
          <a:p xmlns:a="http://schemas.openxmlformats.org/drawingml/2006/main">
            <a:r>
              <a:t>- artifacts/reranker/full_checkpoint.sha256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Giải thích luồng từ trái sang phải. Chốt rằng mô hình không bao giờ được nhìn thấy tài liệu bị cấm, vì RLS/ACL đã lọc trước bước tạo candidate.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src/retriever.py</a:t>
            </a:r>
          </a:p>
          <a:p xmlns:a="http://schemas.openxmlformats.org/drawingml/2006/main">
            <a:r>
              <a:t>- webapp/supabase_backend.py</a:t>
            </a:r>
          </a:p>
          <a:p xmlns:a="http://schemas.openxmlformats.org/drawingml/2006/main">
            <a:r>
              <a:t>- supabase/migrations/20260730193000_enterprise_acl.sql</a:t>
            </a:r>
          </a:p>
          <a:p xmlns:a="http://schemas.openxmlformats.org/drawingml/2006/main">
            <a:r>
              <a:t>- CAPSTONE_OS/02_KNOWLEDGE/architecture/ARCHITECTURE.md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Đây là slide chống overclaim. Nói rõ phạm vi generalization: câu hỏi mới trên cùng tập tài liệu, chưa phải document-domain generalization.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artifacts/data/split_manifest.json</a:t>
            </a:r>
          </a:p>
          <a:p xmlns:a="http://schemas.openxmlformats.org/drawingml/2006/main">
            <a:r>
              <a:t>- CAPSTONE_OS/01_CONTRACTS/DATA_SPLIT_CONTRACT.md</a:t>
            </a:r>
          </a:p>
          <a:p xmlns:a="http://schemas.openxmlformats.org/drawingml/2006/main">
            <a:r>
              <a:t>- artifacts/reranker/pair_manifest.json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MRR thưởng cho việc đưa passage đúng lên vị trí cao. Mức tăng 0.779 lên 0.945 là so sánh base và fine-tuned cross-encoder trên cùng candidate pool và test 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artifacts/benchmark/reranker_comparison.json</a:t>
            </a:r>
          </a:p>
          <a:p xmlns:a="http://schemas.openxmlformats.org/drawingml/2006/main">
            <a:r>
              <a:t>- artifacts/benchmark/reranker_comparison.csv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Nếu hội đồng hỏi validation 1.0 có đáng ngờ không: trả lời rằng đây là tín hiệu cần thận trọng; vì vậy kết luận cuối dựa trên locked test và được giới hạn đúng phạm vi.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artifacts/reranker/full_training_history.csv</a:t>
            </a:r>
          </a:p>
          <a:p xmlns:a="http://schemas.openxmlformats.org/drawingml/2006/main">
            <a:r>
              <a:t>- artifacts/reranker/full_result.json</a:t>
            </a:r>
          </a:p>
          <a:p xmlns:a="http://schemas.openxmlformats.org/drawingml/2006/main">
            <a:r>
              <a:t>- artifacts/reranker/full_checkpoint.sha256</a:t>
            </a:r>
          </a:p>
          <a:p xmlns:a="http://schemas.openxmlformats.org/drawingml/2006/main">
            <a:r>
              <a:t>- artifacts/benchmark/reranker_error_analysis.json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Nêu defense-in-depth: route kiểm tra role để UX rõ ràng, nhưng ranh giới bảo mật thật nằm ở RLS. Live canary hai phòng ban đã pass trên public preview; đây vẫn chưa phải production security audit.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supabase/migrations/20260730193000_enterprise_acl.sql</a:t>
            </a:r>
          </a:p>
          <a:p xmlns:a="http://schemas.openxmlformats.org/drawingml/2006/main">
            <a:r>
              <a:t>- artifacts/web/supabase_schema_smoke.json</a:t>
            </a:r>
          </a:p>
          <a:p xmlns:a="http://schemas.openxmlformats.org/drawingml/2006/main">
            <a:r>
              <a:t>- artifacts/web/supabase_live_canary.json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theo happy path ngắn: đăng nhập, hỏi một câu, mở citation; sau đó chuyển nhanh sang màn admin để chứng minh quản trị và phân quyền.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webapp/app.py</a:t>
            </a:r>
          </a:p>
          <a:p xmlns:a="http://schemas.openxmlformats.org/drawingml/2006/main">
            <a:r>
              <a:t>- CAPSTONE_OS/04_OUTPUT/demo/FINAL_DEMO_SCRIPT.md</a:t>
            </a:r>
          </a:p>
          <a:p xmlns:a="http://schemas.openxmlformats.org/drawingml/2006/main">
            <a:r>
              <a:t>- artifacts/web/web_smoke.json</a:t>
            </a:r>
          </a:p>
          <a:p xmlns:a="http://schemas.openxmlformats.org/drawingml/2006/main">
            <a:r>
              <a:t>- https://vietnamese-enterprise-rag-demo.onrender.com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Đây là slide tạo niềm tin. Phân biệt demo deployment với production readiness; đưa ra giới hạn trước khi hội đồng hỏi.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artifacts/web/web_smoke.json</a:t>
            </a:r>
          </a:p>
          <a:p xmlns:a="http://schemas.openxmlformats.org/drawingml/2006/main">
            <a:r>
              <a:t>- CAPSTONE_OS/04_OUTPUT/final/FINAL_EVIDENCE_INDEX.md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Chốt bốn ý ở thẻ bên phải. Nếu còn thời gian, mời hội đồng xem demo hoặc hỏi sâu về split, reranker và RLS.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CAPSTONE_OS/04_OUTPUT/final/FINAL_EVIDENCE_INDEX.md</a:t>
            </a:r>
          </a:p>
          <a:p xmlns:a="http://schemas.openxmlformats.org/drawingml/2006/main">
            <a:r>
              <a:t>- artifacts/benchmark/reranker_comparison.json</a:t>
            </a:r>
          </a:p>
          <a:p xmlns:a="http://schemas.openxmlformats.org/drawingml/2006/main">
            <a:r>
              <a:t>- artifacts/web/web_smoke.json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13474a0ca248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9464a820924435" /><Relationship Type="http://schemas.openxmlformats.org/officeDocument/2006/relationships/slideLayout" Target="/ppt/slideLayouts/slideLayout1.xml" Id="R40cbcf2e68a74e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cbcf2e68a74e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e455ddb0b44c3" /><Relationship Type="http://schemas.openxmlformats.org/officeDocument/2006/relationships/notesSlide" Target="/ppt/notesSlides/notesSlide1.xml" Id="R2243bc4d8edd4f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b8aa1a93d6477f" /><Relationship Type="http://schemas.openxmlformats.org/officeDocument/2006/relationships/notesSlide" Target="/ppt/notesSlides/notesSlide2.xml" Id="R20e0b843658247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9e0d7f51094b7f" /><Relationship Type="http://schemas.openxmlformats.org/officeDocument/2006/relationships/notesSlide" Target="/ppt/notesSlides/notesSlide3.xml" Id="R9f036b7d9a9948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10d0877e2746a6" /><Relationship Type="http://schemas.openxmlformats.org/officeDocument/2006/relationships/notesSlide" Target="/ppt/notesSlides/notesSlide4.xml" Id="Rc9d0e8338e6543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9f97e0779b4f3a" /><Relationship Type="http://schemas.openxmlformats.org/officeDocument/2006/relationships/notesSlide" Target="/ppt/notesSlides/notesSlide5.xml" Id="Rdc1426fd6dfe42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577a79f07b4104" /><Relationship Type="http://schemas.openxmlformats.org/officeDocument/2006/relationships/chart" Target="/ppt/slides/charts/chart1.xml" Id="R309a234613374187" /><Relationship Type="http://schemas.openxmlformats.org/officeDocument/2006/relationships/notesSlide" Target="/ppt/notesSlides/notesSlide6.xml" Id="Re0b7582c706c45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cc8978f2744950" /><Relationship Type="http://schemas.openxmlformats.org/officeDocument/2006/relationships/notesSlide" Target="/ppt/notesSlides/notesSlide7.xml" Id="R75e9280ac6eb49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47436ea9f4dce" /><Relationship Type="http://schemas.openxmlformats.org/officeDocument/2006/relationships/notesSlide" Target="/ppt/notesSlides/notesSlide8.xml" Id="Rf87bdd6d357a49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8ce73b71754643" /><Relationship Type="http://schemas.openxmlformats.org/officeDocument/2006/relationships/notesSlide" Target="/ppt/notesSlides/notesSlide9.xml" Id="R5fd1a33e98b3408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2aba722a604573" /><Relationship Type="http://schemas.openxmlformats.org/officeDocument/2006/relationships/notesSlide" Target="/ppt/notesSlides/notesSlide10.xml" Id="R8b8fc7b59de84e9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7bca5da2c4896" /><Relationship Type="http://schemas.openxmlformats.org/officeDocument/2006/relationships/notesSlide" Target="/ppt/notesSlides/notesSlide11.xml" Id="R025ca15471504135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barChart>
        <c:barDir val="col"/>
        <c:varyColors val="0"/>
        <c:ser>
          <c:idx val="0"/>
          <c:order val="0"/>
          <c:tx>
            <c:v>MRR</c:v>
          </c:tx>
          <c:spPr>
            <a:solidFill xmlns:a="http://schemas.openxmlformats.org/drawingml/2006/main">
              <a:srgbClr val="1D4ED8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No rerank</c:v>
              </c:pt>
              <c:pt idx="1">
                <c:v>MMR</c:v>
              </c:pt>
              <c:pt idx="2">
                <c:v>Base CE</c:v>
              </c:pt>
              <c:pt idx="3">
                <c:v>Fine-tuned</c:v>
              </c:pt>
            </c:strLit>
          </c:cat>
          <c:val>
            <c:numLit>
              <c:formatCode>General</c:formatCode>
              <c:ptCount val="4"/>
              <c:pt idx="0">
                <c:v>0.668884</c:v>
              </c:pt>
              <c:pt idx="1">
                <c:v>0.698868</c:v>
              </c:pt>
              <c:pt idx="2">
                <c:v>0.779407</c:v>
              </c:pt>
              <c:pt idx="3">
                <c:v>0.944876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24334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BE5EE"/>
              </a:solidFill>
              <a:prstDash val="solid"/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B6FEDE-251C-4C59-8A37-E1C6C85B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050" b="1">
                <a:solidFill>
                  <a:srgbClr val="0F172A"/>
                </a:solidFill>
              </a:defRPr>
            </a:pPr>
            <a:r>
              <a:rPr sz="4050" b="1">
                <a:solidFill>
                  <a:srgbClr val="0F172A"/>
                </a:solidFill>
              </a:rPr>
              <a:t>Vietnamese Enterprise 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9B318B-0355-466F-AE71-49C5D8F2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D4ED8"/>
                </a:solidFill>
              </a:defRPr>
            </a:pPr>
            <a:r>
              <a:rPr sz="1800" b="1">
                <a:solidFill>
                  <a:srgbClr val="1D4ED8"/>
                </a:solidFill>
              </a:rPr>
              <a:t>Hybrid Retrieval + Fine-tuned Cross-Encoder + ACL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CC99A2-B756-4C1D-A5CC-F51058BA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Hỏi đáp tiếng Việt có citation và phân quyền</a:t>
            </a:r>
          </a:p>
          <a:p xmlns:a="http://schemas.openxmlformats.org/drawingml/2006/main">
            <a:pPr>
              <a:buNone/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Fine-tune nằm trong query pipeline thật</a:t>
            </a:r>
          </a:p>
          <a:p xmlns:a="http://schemas.openxmlformats.org/drawingml/2006/main">
            <a:pPr>
              <a:buNone/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Đánh giá locked test + Docker + public preview</a:t>
            </a:r>
          </a:p>
          <a:p xmlns:a="http://schemas.openxmlformats.org/drawingml/2006/main">
            <a:pPr>
              <a:buNone/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Không overclaim RAGAS hoặc production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0F2F19-F5AF-4CA1-8A33-D28D8D46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3714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CF3CEC-75D2-4E2E-A1B3-EA584A5F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71750"/>
            <a:ext cx="3257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MRR 0.945 • 63 tests pass • Public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34637E-C532-4023-B9B5-ECE399DF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C1A83A-153A-4567-8F11-D8ABC486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70AFE0-EDB6-4C86-8A27-A8BB14CE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6482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D906C1-6F2A-4704-9E86-AAD16EC0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476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43E98E-1DA8-4211-BAC7-EE0F3C51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48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Hybrid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1CA7A8-42BD-4A8D-91A7-18466DD8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6482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22D562-4E82-486A-AB08-0C3F6C71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76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059845-7309-4774-AE03-77FB8E36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48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Rerank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E94E4B-CA81-48FA-8337-FC463889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6482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406A34-241D-4B8C-BB32-CC064FE8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76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304A77-94BC-411A-B198-E0794AF1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48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ACL / Web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4294CF-5541-4161-9DDE-566FE873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6482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C0B092-465D-4EB8-8794-A0F43396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476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E1D927-E56C-47C9-A8FE-28C63A93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648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Deploy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0F6415-D940-493D-842B-814919ED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Capstone Defense | Verified MVP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9ED734-EBF1-4B5E-BF10-8FD2CFDD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43372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8D8AF3-AB18-4EEC-8417-18E9891B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Bài toán không chỉ là trả lời đúng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32666E-06A2-464D-A174-D6F190E8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Hệ thống phải tìm đúng nguồn và không làm lộ tài liệu ngoài quyền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90A2D5-49AE-4740-B74F-D9D12E37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334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Tài liệu tiếng Việt phân tán và khác cách diễn đạt</a:t>
            </a:r>
          </a:p>
          <a:p xmlns:a="http://schemas.openxmlformats.org/drawingml/2006/main">
            <a:pPr>
              <a:buNone/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Lexical search bỏ sót ngữ nghĩa; dense search bỏ sót từ khóa chính xác</a:t>
            </a:r>
          </a:p>
          <a:p xmlns:a="http://schemas.openxmlformats.org/drawingml/2006/main">
            <a:pPr>
              <a:buNone/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LLM có thể trả lời trôi chảy dù evidence yếu</a:t>
            </a:r>
          </a:p>
          <a:p xmlns:a="http://schemas.openxmlformats.org/drawingml/2006/main">
            <a:pPr>
              <a:buNone/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Enterprise RAG còn phải chặn truy cập chéo phòng ban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897672-CF8B-4B91-B8E8-1E66D00F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45720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1F16C8-324F-46BE-A5B0-C2F785CB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526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D4ED8"/>
                </a:solidFill>
              </a:defRPr>
            </a:pPr>
            <a:r>
              <a:rPr sz="2025" b="1">
                <a:solidFill>
                  <a:srgbClr val="1D4ED8"/>
                </a:solidFill>
              </a:rPr>
              <a:t>Hai rủi ro cốt lõi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7C7031-9E68-4119-80C3-45159BA6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00300"/>
            <a:ext cx="3905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1. Retrieval sai → câu trả lời sai hoặc thiếu nguồn.</a:t>
            </a:r>
          </a:p>
          <a:p xmlns:a="http://schemas.openxmlformats.org/drawingml/2006/main">
            <a:pPr>
              <a:buNone/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/>
            </a:r>
          </a:p>
          <a:p xmlns:a="http://schemas.openxmlformats.org/drawingml/2006/main">
            <a:pPr>
              <a:buNone/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2. ACL sai → lộ tài liệu dù mô hình trả lời đúng.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7DF1F2-6AEF-4E4E-9AF5-B7CB3534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Problem &amp; Motivation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C74AD3-B94C-45A5-873A-C32257D4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883297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131549-1BDF-46FA-8507-7F8A5CA5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Đóng góp chính: fine-tuned reranker hoạt động thật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B0DC6C-1308-4A14-A230-A9EC38A8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Không dừng ở training script — checkpoint nằm trong query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DB26FF-0E1D-40A7-84A1-D43B139F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334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Dense + BM25 tạo top-20 candidate bằng Hybrid RRF</a:t>
            </a:r>
          </a:p>
          <a:p xmlns:a="http://schemas.openxmlformats.org/drawingml/2006/main">
            <a:pPr>
              <a:buNone/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Cross-encoder fine-tuned rerank candidate → top-5 evidence</a:t>
            </a:r>
          </a:p>
          <a:p xmlns:a="http://schemas.openxmlformats.org/drawingml/2006/main">
            <a:pPr>
              <a:buNone/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Runtime kiểm tra checksum trước khi tải checkpoint</a:t>
            </a:r>
          </a:p>
          <a:p xmlns:a="http://schemas.openxmlformats.org/drawingml/2006/main">
            <a:pPr>
              <a:buNone/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Mọi phương pháp so sánh trên cùng locked test 114 query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E8A12B-5B4E-40FE-9DB4-D7BF991D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45720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F4BCE5-8307-4BE3-A21F-DF2B5235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526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Điểm khác biệt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8D5A89-2939-43AD-80C8-2D249849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00300"/>
            <a:ext cx="3905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Checkpoint chọn bằng validation.</a:t>
            </a:r>
          </a:p>
          <a:p xmlns:a="http://schemas.openxmlformats.org/drawingml/2006/main">
            <a:pPr>
              <a:buNone/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Có before/after metrics.</a:t>
            </a:r>
          </a:p>
          <a:p xmlns:a="http://schemas.openxmlformats.org/drawingml/2006/main">
            <a:pPr>
              <a:buNone/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Có training history, reload test và error analysis.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90A5C3-57AF-41FF-A515-CA27E23E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Scientific Contribution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23E4A0-7357-4DF0-8742-7FB3DB8A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676210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D094E0-1E2A-4C41-8826-B3A86714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Pipeline cân bằng tốc độ, chất lượng và quyền truy cập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325A72-25EB-41A8-8DB3-B0AB68E5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ACL trước retrieval; reranker chỉ xử lý candidate được phép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1CED48-94A6-47FA-9E75-D36E6481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334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SQL/RLS lọc document theo user, role, department và scope</a:t>
            </a:r>
          </a:p>
          <a:p xmlns:a="http://schemas.openxmlformats.org/drawingml/2006/main">
            <a:pPr>
              <a:buNone/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BM25 mạnh ở từ khóa; dense mạnh ở tương đồng ngữ nghĩa</a:t>
            </a:r>
          </a:p>
          <a:p xmlns:a="http://schemas.openxmlformats.org/drawingml/2006/main">
            <a:pPr>
              <a:buNone/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RRF hợp nhất hai ranking mà không cần chuẩn hóa score</a:t>
            </a:r>
          </a:p>
          <a:p xmlns:a="http://schemas.openxmlformats.org/drawingml/2006/main">
            <a:pPr>
              <a:buNone/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Cross-encoder đọc query–passage cùng lúc để chọn top-5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2B3138-B3E1-49BA-903B-A0AE5083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0DF1A6-1541-4CD3-91C6-9FAEDF4B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67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ACL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4C2D60-2BB1-4E9C-B723-14981C2B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672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747393-1462-48D8-B588-DB136673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095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B5AE9A-2C56-4F60-8CFF-007301DF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67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BM25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C1F348-6828-4E2A-87EA-E944168E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2672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584FC9-7C63-4A29-8794-63C52CC8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95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B03FAB-F19C-4D26-8562-0AC879DA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67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Dense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22F529-B84B-4423-BD6A-EE3A3FA4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2672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17A009-376E-4102-B9AC-31D97750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95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5A1270-C3CB-4E17-B5BD-C1528AA9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67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RRF-20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B6A131-88C8-4C18-8CFD-CA9B5E78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2672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83D75A-2556-4CB4-88A7-7DDEF285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95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F05D0A-5C70-4EA8-AA3F-A399A6A7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267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FT 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05F973-2D42-4E0B-A36F-B5742C36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672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494227-2388-4EDF-8D0A-DD41A6B1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095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4F1E0C-B341-46B3-997B-D270E37C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267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Top-5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3ACFF4-D528-4ED9-A3E2-BE098F79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System Architecture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B0C1B5-D50F-4D9F-A45F-B3050317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265761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DA85EB-624C-4899-85B2-DC3B03FC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Dữ liệu và split được khóa trước đánh giá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563368-AE95-4508-9C3E-0828C4AA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1,141 query • 913 train • 114 validation • 114 test • seed 42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F8B7AB-FE2D-41CA-9527-6510A637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334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Split contract được tạo trước training/evaluation</a:t>
            </a:r>
          </a:p>
          <a:p xmlns:a="http://schemas.openxmlformats.org/drawingml/2006/main">
            <a:pPr>
              <a:buNone/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Test đo query generalization trên cùng corpus tài liệu</a:t>
            </a:r>
          </a:p>
          <a:p xmlns:a="http://schemas.openxmlformats.org/drawingml/2006/main">
            <a:pPr>
              <a:buNone/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Không chọn checkpoint bằng test; chỉ dùng validation</a:t>
            </a:r>
          </a:p>
          <a:p xmlns:a="http://schemas.openxmlformats.org/drawingml/2006/main">
            <a:pPr>
              <a:buNone/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Tất cả baseline và reranker dùng cùng locked test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0662E8-E00A-4F21-9337-94A22A59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45720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C01DDC-CFE8-4DF3-806C-974BC3CB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526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Leakage gates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F08BB5-78C2-4D7A-9289-D3DD51EF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00300"/>
            <a:ext cx="3905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0 duplicate question/pair conflict giữa các split.</a:t>
            </a:r>
          </a:p>
          <a:p xmlns:a="http://schemas.openxmlformats.org/drawingml/2006/main">
            <a:pPr>
              <a:buNone/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Negative của train chỉ sinh từ train query.</a:t>
            </a:r>
          </a:p>
          <a:p xmlns:a="http://schemas.openxmlformats.org/drawingml/2006/main">
            <a:pPr>
              <a:buNone/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Locked test chỉ mở ở bước đánh giá cuối.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150B67-6D97-455D-9655-A8964B64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Data &amp; Evaluation Contract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DBFE81-0B2D-4B01-B0B1-63F3B2CA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505672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434EB8-587E-4665-A60E-A9CD5E43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Fine-tuned reranker nâng MRR lên 0.945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B79701-6668-4B54-A0E6-E5593AB2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Cùng Hybrid RRF top-20, locked test 114 query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613C9C-F557-4ACE-9D9A-2AD896BB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334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No-rerank: 0.669  |  MMR: 0.699</a:t>
            </a:r>
          </a:p>
          <a:p xmlns:a="http://schemas.openxmlformats.org/drawingml/2006/main">
            <a:pPr>
              <a:buNone/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Base cross-encoder: 0.779</a:t>
            </a:r>
          </a:p>
          <a:p xmlns:a="http://schemas.openxmlformats.org/drawingml/2006/main">
            <a:pPr>
              <a:buNone/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Fine-tuned cross-encoder: 0.945</a:t>
            </a:r>
          </a:p>
          <a:p xmlns:a="http://schemas.openxmlformats.org/drawingml/2006/main">
            <a:pPr>
              <a:buNone/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Hit@1: 0.930  |  Hit@5: 0.974</a:t>
            </a:r>
          </a:p>
          <a:p xmlns:a="http://schemas.openxmlformats.org/drawingml/2006/main">
            <a:pPr>
              <a:buNone/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Không gọi đây là full RAGAS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C870F-FD54-42B5-B3F0-CA766F40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4810125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FB0C2F-BF6B-40D7-AFF5-07EC9080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764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MRR trên locked test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7048500" y="2238375"/>
          <a:ext xmlns:a="http://schemas.openxmlformats.org/drawingml/2006/main" cx="3905250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09a234613374187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58993D-07CE-4CE4-9EA6-81216B18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768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Base 0.779 → Fine-tuned 0.945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2B2818-9399-4785-B729-EB0626E3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Measured Results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13CD6A-7016-43C4-BAEC-18BFE7D8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067692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DC5699-B20D-4113-992F-833BB4D6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Fine-tune có đủ bằng chứng để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132F91-7ECE-4588-A8FF-18FD089A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Checkpoint chọn bằng validation, không chọn bằng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49D50D-074F-4849-8E66-2D95ACD5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334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2 epochs / 572 optimization steps</a:t>
            </a:r>
          </a:p>
          <a:p xmlns:a="http://schemas.openxmlformats.org/drawingml/2006/main">
            <a:pPr>
              <a:buNone/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Kiểm tra weights changed và reload đều pass</a:t>
            </a:r>
          </a:p>
          <a:p xmlns:a="http://schemas.openxmlformats.org/drawingml/2006/main">
            <a:pPr>
              <a:buNone/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Checkpoint có SHA256 để chống nhầm model</a:t>
            </a:r>
          </a:p>
          <a:p xmlns:a="http://schemas.openxmlformats.org/drawingml/2006/main">
            <a:pPr>
              <a:buNone/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Error analysis: 109 hit→hit, 2 miss→hit, 3 miss→miss, 0 hit→miss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A2A180-B04F-4D87-890C-44E8D8C9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00200"/>
            <a:ext cx="23812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291874-4D08-43ED-B695-2218480B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954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3D28B2-C523-4B23-A694-E7228E8C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00200"/>
            <a:ext cx="16192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BA45FE-81E0-4F0D-B8B5-429E107A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954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Value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0D07C8-B5A5-45A0-B2B1-8746BC4F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23812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41D605-DA80-45FC-8438-C6A93ACB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955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Split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849E60-88E2-4CF4-916B-5BB47F12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16192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B2FE91-492F-4165-91F5-6529C1DB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955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0 conflicts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B973E7-CD92-4CFA-98B4-EF1B31A7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00300"/>
            <a:ext cx="23812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20D969-30BA-4734-85EB-B9C275F7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955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Best epoch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3117AD-1C6C-4BAC-A860-9C9A4DE1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00300"/>
            <a:ext cx="16192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F0C6B6-6AA3-4E7F-BC3D-85499289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955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1 (validation)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184A02-9A76-4484-AC06-F8FC9E1A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0350"/>
            <a:ext cx="23812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7ACC35-67A8-491F-930C-C1AE9788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956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Training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CEE555-AC87-46E0-8667-467AFC9A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00350"/>
            <a:ext cx="16192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DDC539-D2F5-46C2-A4D9-AD922725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956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2 epochs · 572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29EC87-A809-4E1A-88C6-F1C4C6CD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00400"/>
            <a:ext cx="23812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74000A-9DB3-4B06-9253-9E25A4C9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956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Checksum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3B6818-D4F7-40D8-B647-380616D6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00400"/>
            <a:ext cx="16192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9634F1-B280-4202-B972-DF927CFB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95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3782daf…aa44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CE3806-25E0-4F27-949C-9AF78B1A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95750"/>
            <a:ext cx="433387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71B301-7D19-44FA-A2AA-C0E9C357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286250"/>
            <a:ext cx="38766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Validation bão hòa 1.0; kết luận dựa trên locked test.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88CC7C-3CC1-44EE-BF7C-CA706F11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Fine-tuning Audit Trail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CAA9C3-E02C-4321-84D6-886C024B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110178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570FCB-52DA-4447-B758-02FFD6D0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ACL lọc trước retrieval và reranker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EEEF92-C3D0-4A29-804C-981B9CE2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Tài liệu ngoài quyền không bao giờ vào candidate 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346142-5297-4972-831A-1C3860CD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334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Role: admin, manager, member</a:t>
            </a:r>
          </a:p>
          <a:p xmlns:a="http://schemas.openxmlformats.org/drawingml/2006/main">
            <a:pPr>
              <a:buNone/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Scope: organization, department, private</a:t>
            </a:r>
          </a:p>
          <a:p xmlns:a="http://schemas.openxmlformats.org/drawingml/2006/main">
            <a:pPr>
              <a:buNone/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Supabase Auth cung cấp user JWT; Postgres RLS thực thi policy</a:t>
            </a:r>
          </a:p>
          <a:p xmlns:a="http://schemas.openxmlformats.org/drawingml/2006/main">
            <a:pPr>
              <a:buNone/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Live canary HR ↔ Finance: không list/retrieve chéo phòng</a:t>
            </a:r>
          </a:p>
          <a:p xmlns:a="http://schemas.openxmlformats.org/drawingml/2006/main">
            <a:pPr>
              <a:buNone/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Audit event lấy user_id từ auth.uid(), không tin dữ liệu client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B3BE0-B041-4E77-BCB6-A3371A93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83FD45-4423-4760-8057-008D7079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67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User JWT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35DFD9-5BC4-4BE4-BAD9-2633AF6F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672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F783A2-7F79-4D87-B869-8B716449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095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BF212D-6E19-493F-BC8B-6AE47927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67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SQL RLS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0CB8C4-10BD-49AD-8FC7-1A3678CE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2672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1F7706-731B-4E02-8340-6FB57888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95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4BE82A-9BA1-4767-8BFE-D40981EF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67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Candidates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F30456-FB6A-4786-8388-9E1B82C3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2672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A3AE11-E0D7-4952-9206-00D61E85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95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830674-BB47-4E66-9EFC-F2FD4E73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67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Rerank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91AF2D-3CD9-468F-80AF-2A785C81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2672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F7F882-FB56-4AC5-B83E-8DEA5529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95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247583-3440-4D41-AC5F-D35F8BA2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267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Citation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21C896-2D27-4AE6-9E22-D97C480F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Security &amp; Access Control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3CFC34-4BD8-480D-A078-5193132E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163031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8F42A1-51DD-43FA-B6DC-CDF8BC6A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Web MVP đã có luồng người dùng và quản trị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777938-F158-4689-A428-1330F128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Public preview: vietnamese-enterprise-rag-demo.onrender.com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807283-1DCB-4CDF-BAD0-32157027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334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Đăng nhập và session</a:t>
            </a:r>
          </a:p>
          <a:p xmlns:a="http://schemas.openxmlformats.org/drawingml/2006/main">
            <a:pPr>
              <a:buNone/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Admin quản lý user, phòng ban và tài liệu</a:t>
            </a:r>
          </a:p>
          <a:p xmlns:a="http://schemas.openxmlformats.org/drawingml/2006/main">
            <a:pPr>
              <a:buNone/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Document scope theo tổ chức / phòng ban / cá nhân</a:t>
            </a:r>
          </a:p>
          <a:p xmlns:a="http://schemas.openxmlformats.org/drawingml/2006/main">
            <a:pPr>
              <a:buNone/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Chat/search trả top-5 evidence kèm citation</a:t>
            </a:r>
          </a:p>
          <a:p xmlns:a="http://schemas.openxmlformats.org/drawingml/2006/main">
            <a:pPr>
              <a:buNone/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Audit log cho hành động quan trọng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B2E6A9-27E3-4B83-8ABA-EF3D03C6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45720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6666D8-C0B8-4637-B7B2-FDD33F04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526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D4ED8"/>
                </a:solidFill>
              </a:defRPr>
            </a:pPr>
            <a:r>
              <a:rPr sz="2025" b="1">
                <a:solidFill>
                  <a:srgbClr val="1D4ED8"/>
                </a:solidFill>
              </a:rPr>
              <a:t>Demo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AC711C-AA05-416C-A365-F3368AE8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00300"/>
            <a:ext cx="3905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Login → hỏi câu nghiệp vụ → mở citation</a:t>
            </a:r>
          </a:p>
          <a:p xmlns:a="http://schemas.openxmlformats.org/drawingml/2006/main">
            <a:pPr>
              <a:buNone/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/>
            </a:r>
          </a:p>
          <a:p xmlns:a="http://schemas.openxmlformats.org/drawingml/2006/main">
            <a:pPr>
              <a:buNone/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Admin → Users / Departments / Documents / Audit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6FF734-2271-47DC-BCCD-6C62EAEE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Product Experience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64F811-A0B0-444E-A9B4-B235E825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865984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6726F1-B98B-4942-A16C-634AF2BB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Đã deploy preview, nhưng chưa gọi là 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EF526D-5832-41F5-AACC-F6FB1037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Render Free + Supabase RLS; claim theo đúng bằng chứng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0FE892-31AC-46CA-8F10-BB22B631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334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Render Free có thể sleep và cold start</a:t>
            </a:r>
          </a:p>
          <a:p xmlns:a="http://schemas.openxmlformats.org/drawingml/2006/main">
            <a:pPr>
              <a:buNone/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Public build chưa mang checkpoint fine-tuned dung lượng lớn</a:t>
            </a:r>
          </a:p>
          <a:p xmlns:a="http://schemas.openxmlformats.org/drawingml/2006/main">
            <a:pPr>
              <a:buNone/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Admin bootstrap vẫn cần thao tác người dùng có kiểm soát</a:t>
            </a:r>
          </a:p>
          <a:p xmlns:a="http://schemas.openxmlformats.org/drawingml/2006/main">
            <a:pPr>
              <a:buNone/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20 request local thành công không chứng minh capacity 20 concurrent users</a:t>
            </a:r>
          </a:p>
          <a:p xmlns:a="http://schemas.openxmlformats.org/drawingml/2006/main">
            <a:pPr>
              <a:buNone/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Chưa có full RAGAS hoặc load test dài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2984FC-5A6D-48AF-9B2A-1BD909B1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45720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1F9C6B-9A7D-4DE1-AE5E-586E81B8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526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Không claim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D67A8A-00CC-43C7-858E-40CAEFD0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00300"/>
            <a:ext cx="3905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Production-ready</a:t>
            </a:r>
          </a:p>
          <a:p xmlns:a="http://schemas.openxmlformats.org/drawingml/2006/main">
            <a:pPr>
              <a:buNone/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Sustained 20 users</a:t>
            </a:r>
          </a:p>
          <a:p xmlns:a="http://schemas.openxmlformats.org/drawingml/2006/main">
            <a:pPr>
              <a:buNone/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Production security audit</a:t>
            </a:r>
          </a:p>
          <a:p xmlns:a="http://schemas.openxmlformats.org/drawingml/2006/main">
            <a:pPr>
              <a:buNone/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Document-domain generalization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C1FEAF-FBE4-4FD2-9373-898BDD24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Limits &amp; Deployment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20E40C-7C0C-479D-829C-10532992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807153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9A99CE-9175-4116-A608-916561BF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Kết luận: đóng góp khoa học và sản phẩm đã gặp nhau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9D6FBD-E51D-4017-B51D-3B212BCC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Fine-tuned reranker + ACL-first web tạo thành một MVP có thể bảo vệ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2E602B-37DD-42BF-A950-FA2C0197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334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Retrieval quality được đo trên locked test</a:t>
            </a:r>
          </a:p>
          <a:p xmlns:a="http://schemas.openxmlformats.org/drawingml/2006/main">
            <a:pPr>
              <a:buNone/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Checkpoint thật được xác minh và dùng trong runtime</a:t>
            </a:r>
          </a:p>
          <a:p xmlns:a="http://schemas.openxmlformats.org/drawingml/2006/main">
            <a:pPr>
              <a:buNone/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Web quản trị, phân quyền, citation và audit đã thành một luồng demo</a:t>
            </a:r>
          </a:p>
          <a:p xmlns:a="http://schemas.openxmlformats.org/drawingml/2006/main">
            <a:pPr>
              <a:buNone/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Docker và public preview đã được smoke-test</a:t>
            </a:r>
          </a:p>
          <a:p xmlns:a="http://schemas.openxmlformats.org/drawingml/2006/main">
            <a:pPr>
              <a:buNone/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Mọi giới hạn quan trọng đều được công khai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7C7A3C-74E1-407E-8F2C-E8E757C2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45720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2D165E-37E0-41D5-9E7D-4F64657B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526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Hội đồng cần nhớ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4DB6E1-48FC-4F91-8F98-0EE075A5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00300"/>
            <a:ext cx="3905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Fine-tune đúng layer</a:t>
            </a:r>
          </a:p>
          <a:p xmlns:a="http://schemas.openxmlformats.org/drawingml/2006/main">
            <a:pPr>
              <a:buNone/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Same locked test</a:t>
            </a:r>
          </a:p>
          <a:p xmlns:a="http://schemas.openxmlformats.org/drawingml/2006/main">
            <a:pPr>
              <a:buNone/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ACL trước retrieval</a:t>
            </a:r>
          </a:p>
          <a:p xmlns:a="http://schemas.openxmlformats.org/drawingml/2006/main">
            <a:pPr>
              <a:buNone/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Evidence thay cho overclaim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324CC3-AB32-4883-B638-2091011D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Conclusion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5C394F-A8DB-4A10-88D7-2A289CED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749247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2026-07-30T14:44:49.1810000Z</dcterms:created>
  <dcterms:modified xsi:type="dcterms:W3CDTF">2026-07-30T14:44:49.1810000Z</dcterms:modified>
</coreProperties>
</file>